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2F6FC"/>
                </a:solidFill>
              </a:rPr>
              <a:t>Data Analyst AI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603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A8B5CA"/>
                </a:solidFill>
              </a:rPr>
              <a:t>Natural-language data analysis using Python, Pandas, SQL, LLM &amp; Streamlit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86200"/>
            <a:ext cx="3200400" cy="1234440"/>
          </a:xfrm>
          <a:prstGeom prst="roundRect">
            <a:avLst/>
          </a:prstGeom>
          <a:solidFill>
            <a:srgbClr val="161F32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886200"/>
            <a:ext cx="64008" cy="1234440"/>
          </a:xfrm>
          <a:prstGeom prst="rect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032504"/>
            <a:ext cx="2834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2F6FC"/>
                </a:solidFill>
              </a:rPr>
              <a:t>What it does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A8B5CA"/>
                </a:solidFill>
              </a:rPr>
              <a:t>Upload data → ask questions → get answers, SQL and charts.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3886200"/>
            <a:ext cx="3200400" cy="1234440"/>
          </a:xfrm>
          <a:prstGeom prst="roundRect">
            <a:avLst/>
          </a:prstGeom>
          <a:solidFill>
            <a:srgbClr val="161F32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1960" y="3886200"/>
            <a:ext cx="64008" cy="1234440"/>
          </a:xfrm>
          <a:prstGeom prst="rect">
            <a:avLst/>
          </a:prstGeom>
          <a:solidFill>
            <a:srgbClr val="46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4032504"/>
            <a:ext cx="2834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2F6FC"/>
                </a:solidFill>
              </a:rPr>
              <a:t>Core stack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A8B5CA"/>
                </a:solidFill>
              </a:rPr>
              <a:t>Python • Pandas • SQLite • Plotly • Streamlit • 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886200"/>
            <a:ext cx="3200400" cy="1234440"/>
          </a:xfrm>
          <a:prstGeom prst="roundRect">
            <a:avLst/>
          </a:prstGeom>
          <a:solidFill>
            <a:srgbClr val="161F32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3886200"/>
            <a:ext cx="64008" cy="123444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4032504"/>
            <a:ext cx="2834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2F6FC"/>
                </a:solidFill>
              </a:rPr>
              <a:t>Portfolio goal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A8B5CA"/>
                </a:solidFill>
              </a:rPr>
              <a:t>Demonstrate Data Science + SQL + GenAI + app development.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Users may have CSV/Excel data but not know Python or SQL.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The challenge is translating natural-language questions into reliable data operations.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Solution: an AI assistant that understands the uploaded dataset and returns data-backed answers and charts.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Accept CSV, XLSX and XLS datasets.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Profile and clean a working copy of the data.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Store the cleaned dataset in SQLite.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Convert natural-language questions into read-only SQL with an LLM.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Validate SQL before execution.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Return tables, explanations and interactive Plotly visualizations.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Provide a professional Streamlit UI.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3.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Python — main application language.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Pandas / NumPy — loading, cleaning, profiling and analysis.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SQLite — local analytical database.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SQL — filtering, aggregation, ranking and grouping.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LLM — natural language to SQL and result explanation.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Streamlit — web interface.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Plotly — interactive visualizations.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python-dotenv — API secret management.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4. Overall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077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Upload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12264" y="2999232"/>
            <a:ext cx="-17504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92085" y="274320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37805" y="29077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Pandas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64269" y="2999232"/>
            <a:ext cx="-17504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44091" y="274320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9811" y="29077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Clean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16275" y="2999232"/>
            <a:ext cx="-17504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96097" y="274320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1817" y="29077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SQLite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68281" y="2999232"/>
            <a:ext cx="-17504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48102" y="274320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3822" y="29077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LLM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520286" y="2999232"/>
            <a:ext cx="-17504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0108" y="274320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5828" y="29077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Validate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72292" y="2999232"/>
            <a:ext cx="-17504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52114" y="274320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97834" y="29077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Execute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224298" y="2999232"/>
            <a:ext cx="-17504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04120" y="274320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9077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5. Upload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Streamlit file uploader accepts CSV, XLSX and XLS.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File extension, size, empty input and parsing errors are handled.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CSV uses Pandas read_csv; Excel uses read_excel.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Current implementation limits uploads to 25 MB.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Bad input is rejected before database processing.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6. Data Cleaning &amp;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Cleaning: normalize column names, trim strings, remove exact duplicates and conservatively detect date columns.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Profiling: rows, columns, missing values, duplicates, data types, unique values and memory usage.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Original upload is kept unchanged; analysis uses a cleaned working copy.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Cleaning actions are shown to the user.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7. SQLite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The cleaned DataFrame is written to a SQLite table.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SQLite provides a real SQL layer without requiring a separate database server.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The table name is sanitized from the uploaded filename.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The database is used for analytical queries and is not treated as source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8. Natural Language → 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200400" cy="1828800"/>
          </a:xfrm>
          <a:prstGeom prst="roundRect">
            <a:avLst/>
          </a:prstGeom>
          <a:solidFill>
            <a:srgbClr val="161F32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64008" cy="1828800"/>
          </a:xfrm>
          <a:prstGeom prst="rect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63624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2F6FC"/>
                </a:solidFill>
              </a:rPr>
              <a:t>User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A8B5CA"/>
                </a:solidFill>
              </a:rPr>
              <a:t>“What is the average Age?”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200400" cy="1828800"/>
          </a:xfrm>
          <a:prstGeom prst="roundRect">
            <a:avLst/>
          </a:prstGeom>
          <a:solidFill>
            <a:srgbClr val="161F32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417320"/>
            <a:ext cx="64008" cy="1828800"/>
          </a:xfrm>
          <a:prstGeom prst="rect">
            <a:avLst/>
          </a:prstGeom>
          <a:solidFill>
            <a:srgbClr val="46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563624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2F6FC"/>
                </a:solidFill>
              </a:rPr>
              <a:t>LLM Context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A8B5CA"/>
                </a:solidFill>
              </a:rPr>
              <a:t>Schema + types + sample +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417320"/>
            <a:ext cx="3200400" cy="1828800"/>
          </a:xfrm>
          <a:prstGeom prst="roundRect">
            <a:avLst/>
          </a:prstGeom>
          <a:solidFill>
            <a:srgbClr val="161F32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5320" y="1417320"/>
            <a:ext cx="64008" cy="182880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1563624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2F6FC"/>
                </a:solidFill>
              </a:rPr>
              <a:t>SQL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A8B5CA"/>
                </a:solidFill>
              </a:rPr>
              <a:t>SELECT AVG("Age")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The LLM receives the dataset schema, data types, a small sample and the user question.</a:t>
            </a:r>
          </a:p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Example: “What is the average Age?” → SELECT AVG("Age") ...</a:t>
            </a:r>
          </a:p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The model is instructed to use only available columns and SQLite syntax.</a:t>
            </a:r>
          </a:p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Generated SQL is treated as untrusted output until validated.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9. SQL Safety Layer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077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Generate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12264" y="2999232"/>
            <a:ext cx="162763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94760" y="274320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29077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Validate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66944" y="2999232"/>
            <a:ext cx="162763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9440" y="274320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29077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Reject/Repair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21624" y="2999232"/>
            <a:ext cx="162763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104120" y="274320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29077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Execute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Only a single read-only SELECT/CTE query is permitted.</a:t>
            </a:r>
          </a:p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Destructive keywords such as DROP, DELETE, UPDATE, INSERT, ALTER and CREATE are blocked.</a:t>
            </a:r>
          </a:p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SQLite PRAGMA query_only is enabled during execution.</a:t>
            </a:r>
          </a:p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Invalid SQL is rejected before it reaches the database.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10. Query Execution &amp;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Validated SQL is executed against SQLite.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Results are returned as a Pandas DataFrame.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Single-value results can be presented as metrics.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Multi-row results are displayed as tables.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The last SQL and result can be inspected in SQL Explorer.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11. Automatic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Time/date + numeric result → line chart.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Category + numeric result → bar chart.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Two numeric fields → scatter plot.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Distribution/spread can be explored through the dashboard.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Plotly provides interactive charts.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12. Streamlit Application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Upload Dataset — file loading and cleaning log.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Dashboard — KPIs and data-quality overview.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Data Explorer — preview, schema, missing values and statistics.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AI Chatbot — natural-language analysis.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SQL Explorer — manual safe SQL.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Insights — deterministic summaries.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13. Folder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5303520" cy="4206240"/>
          </a:xfrm>
          <a:prstGeom prst="roundRect">
            <a:avLst/>
          </a:prstGeom>
          <a:solidFill>
            <a:srgbClr val="161F32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4008" cy="4206240"/>
          </a:xfrm>
          <a:prstGeom prst="rect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17904"/>
            <a:ext cx="493775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2F6FC"/>
                </a:solidFill>
              </a:rPr>
              <a:t>Core files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A8B5CA"/>
                </a:solidFill>
              </a:rPr>
              <a:t>app.py
requirements.txt
.env / .env.example
README.md
src/ modules
utils/ helpers
 tests/ test 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206240"/>
          </a:xfrm>
          <a:prstGeom prst="roundRect">
            <a:avLst/>
          </a:prstGeom>
          <a:solidFill>
            <a:srgbClr val="161F32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64008" cy="4206240"/>
          </a:xfrm>
          <a:prstGeom prst="rect">
            <a:avLst/>
          </a:prstGeom>
          <a:solidFill>
            <a:srgbClr val="46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517904"/>
            <a:ext cx="475487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2F6FC"/>
                </a:solidFill>
              </a:rPr>
              <a:t>Module responsibility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A8B5CA"/>
                </a:solidFill>
              </a:rPr>
              <a:t>Each module has one main job: load, clean, profile, store, validate, execute, visualize, call LLM, or orchestrate chatbot.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14. API Key &amp;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2F6FC"/>
                </a:solidFill>
              </a:defRPr>
            </a:pPr>
            <a:r>
              <a:t>• The real API key is stored in .env, not source code.</a:t>
            </a:r>
          </a:p>
          <a:p>
            <a:pPr>
              <a:spcAft>
                <a:spcPts val="800"/>
              </a:spcAft>
              <a:defRPr sz="1600">
                <a:solidFill>
                  <a:srgbClr val="F2F6FC"/>
                </a:solidFill>
              </a:defRPr>
            </a:pPr>
            <a:r>
              <a:t>• .env.example documents required variable names.</a:t>
            </a:r>
          </a:p>
          <a:p>
            <a:pPr>
              <a:spcAft>
                <a:spcPts val="800"/>
              </a:spcAft>
              <a:defRPr sz="1600">
                <a:solidFill>
                  <a:srgbClr val="F2F6FC"/>
                </a:solidFill>
              </a:defRPr>
            </a:pPr>
            <a:r>
              <a:t>• .gitignore prevents .env from being pushed to GitHub.</a:t>
            </a:r>
          </a:p>
          <a:p>
            <a:pPr>
              <a:spcAft>
                <a:spcPts val="800"/>
              </a:spcAft>
              <a:defRPr sz="1600">
                <a:solidFill>
                  <a:srgbClr val="F2F6FC"/>
                </a:solidFill>
              </a:defRPr>
            </a:pPr>
            <a:r>
              <a:t>• OPENAI_MODEL selects the LLM.</a:t>
            </a:r>
          </a:p>
          <a:p>
            <a:pPr>
              <a:spcAft>
                <a:spcPts val="800"/>
              </a:spcAft>
              <a:defRPr sz="1600">
                <a:solidFill>
                  <a:srgbClr val="F2F6FC"/>
                </a:solidFill>
              </a:defRPr>
            </a:pPr>
            <a:r>
              <a:t>• Without an API key, non-AI features still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554480"/>
            <a:ext cx="3383280" cy="2377440"/>
          </a:xfrm>
          <a:prstGeom prst="roundRect">
            <a:avLst/>
          </a:prstGeom>
          <a:solidFill>
            <a:srgbClr val="161F32"/>
          </a:solidFill>
          <a:ln>
            <a:solidFill>
              <a:srgbClr val="2A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1554480"/>
            <a:ext cx="64008" cy="2377440"/>
          </a:xfrm>
          <a:prstGeom prst="rect">
            <a:avLst/>
          </a:prstGeom>
          <a:solidFill>
            <a:srgbClr val="FFA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73568" y="1700784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2F6FC"/>
                </a:solidFill>
              </a:rPr>
              <a:t>.env example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A8B5CA"/>
                </a:solidFill>
              </a:rPr>
              <a:t>OPENAI_API_KEY=your_key_here
OPENAI_MODEL=gpt-4o-mini
Never commit the real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15. Error Handling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Invalid/oversized files show friendly errors.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Empty or unsupported data is rejected.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Unsafe SQL is blocked before execution.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LLM/API failures are handled without crashing the UI.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Secrets remain outside Git.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Original data is never silently overwritten.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16.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CSV loader test verifies basic file parsing.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Cleaner test verifies whitespace normalization and duplicate removal.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SQL validator tests allow SELECT and reject DROP/multiple statements.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Query executor test creates a temporary SQLite database and verifies results.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Run the suite with: pytest -q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17. Demo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56032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2491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Upload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12264" y="2816352"/>
            <a:ext cx="5029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17420" y="256032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63139" y="272491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Profile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89603" y="2816352"/>
            <a:ext cx="5029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94760" y="256032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72491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Ask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66944" y="2816352"/>
            <a:ext cx="5029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72100" y="256032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7820" y="272491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LLM SQL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44283" y="2816352"/>
            <a:ext cx="5029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0" y="256032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59" y="272491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Validate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21624" y="2816352"/>
            <a:ext cx="5029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26780" y="256032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500" y="272491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Result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998964" y="2816352"/>
            <a:ext cx="50292" cy="228600"/>
          </a:xfrm>
          <a:prstGeom prst="rightArrow">
            <a:avLst/>
          </a:prstGeom>
          <a:solidFill>
            <a:srgbClr val="49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04119" y="2560320"/>
            <a:ext cx="1417320" cy="777240"/>
          </a:xfrm>
          <a:prstGeom prst="roundRect">
            <a:avLst/>
          </a:prstGeom>
          <a:solidFill>
            <a:srgbClr val="161F32"/>
          </a:solidFill>
          <a:ln>
            <a:solidFill>
              <a:srgbClr val="49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272491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</a:rPr>
              <a:t>Chart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3192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1. Upload a dataset.</a:t>
            </a:r>
          </a:p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2. Open Dashboard to inspect quality.</a:t>
            </a:r>
          </a:p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3. Ask: “What is the average Age?”</a:t>
            </a:r>
          </a:p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4. Show the generated SQL.</a:t>
            </a:r>
          </a:p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5. Show the validated result.</a:t>
            </a:r>
          </a:p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6. Ask a grouped question and demonstrate the Plotly chart.</a:t>
            </a:r>
          </a:p>
          <a:p>
            <a:pPr>
              <a:spcAft>
                <a:spcPts val="800"/>
              </a:spcAft>
              <a:defRPr sz="1500">
                <a:solidFill>
                  <a:srgbClr val="F2F6FC"/>
                </a:solidFill>
              </a:defRPr>
            </a:pPr>
            <a:r>
              <a:t>• 7. Open SQL Explorer to explain the safety layer.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18. End-to-End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User asks: “Which category has the highest sales?”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Pandas/SQLite already contain the working dataset.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LLM generates a GROUP BY + ORDER BY query.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Validator checks it is read-only.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SQLite executes it.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Pandas displays the result.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Plotly visualizes it when useful.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19. Limitations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Natural-language analysis currently depends on an external LLM API.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Simple questions can be optimized with local Pandas/SQL fallbacks to reduce API cost.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Future: multi-table joins and schema-aware retrieval.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Future: anomaly detection, downloadable reports and chart exports.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Future: local/open-source LLM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6FC"/>
                </a:solidFill>
              </a:rPr>
              <a:t>20. Resume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Demonstrates Python and Pandas data analysis.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Demonstrates SQL and database fundamentals.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Demonstrates GenAI and prompt design.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Demonstrates Streamlit application development.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Demonstrates security, validation, modular architecture and testing.</a:t>
            </a:r>
          </a:p>
          <a:p>
            <a:pPr>
              <a:spcAft>
                <a:spcPts val="800"/>
              </a:spcAft>
              <a:defRPr sz="1700">
                <a:solidFill>
                  <a:srgbClr val="F2F6FC"/>
                </a:solidFill>
              </a:defRPr>
            </a:pPr>
            <a:r>
              <a:t>• Creates a strong GitHub/LinkedIn portfolio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A8B5CA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2F6FC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49B4FF"/>
                </a:solidFill>
              </a:rPr>
              <a:t>Questions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88620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A8B5CA"/>
                </a:solidFill>
              </a:rPr>
              <a:t>Data Analyst AI Chatbot • Python • Pandas • SQL • LLM •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